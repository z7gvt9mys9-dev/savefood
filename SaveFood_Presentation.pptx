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78730f911449c6" /><Relationship Type="http://schemas.openxmlformats.org/officeDocument/2006/relationships/extended-properties" Target="/docProps/app.xml" Id="R3c0b2b4250a24f67" /><Relationship Type="http://schemas.openxmlformats.org/officeDocument/2006/relationships/officeDocument" Target="/ppt/presentation.xml" Id="R3268ad5c640945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4482229a2444b3"/>
  </p:sldMasterIdLst>
  <p:notesMasterIdLst>
    <p:notesMasterId xmlns:r="http://schemas.openxmlformats.org/officeDocument/2006/relationships" r:id="Rf298f1663fad46df"/>
  </p:notesMasterIdLst>
  <p:sldIdLst>
    <p:sldId xmlns:r="http://schemas.openxmlformats.org/officeDocument/2006/relationships" id="256" r:id="R1b930595c5b4446d"/>
    <p:sldId xmlns:r="http://schemas.openxmlformats.org/officeDocument/2006/relationships" id="257" r:id="R2f7212f1ffb14242"/>
    <p:sldId xmlns:r="http://schemas.openxmlformats.org/officeDocument/2006/relationships" id="258" r:id="R7bff3951328c4c66"/>
    <p:sldId xmlns:r="http://schemas.openxmlformats.org/officeDocument/2006/relationships" id="259" r:id="Rb6673c0a0818470f"/>
    <p:sldId xmlns:r="http://schemas.openxmlformats.org/officeDocument/2006/relationships" id="260" r:id="R14f7690de6c34466"/>
    <p:sldId xmlns:r="http://schemas.openxmlformats.org/officeDocument/2006/relationships" id="261" r:id="Rb3216864873c4980"/>
    <p:sldId xmlns:r="http://schemas.openxmlformats.org/officeDocument/2006/relationships" id="262" r:id="Rb0ae5264fd5740c0"/>
    <p:sldId xmlns:r="http://schemas.openxmlformats.org/officeDocument/2006/relationships" id="263" r:id="R06d7125d0a534ca4"/>
    <p:sldId xmlns:r="http://schemas.openxmlformats.org/officeDocument/2006/relationships" id="264" r:id="R54e95d602aee4ad1"/>
    <p:sldId xmlns:r="http://schemas.openxmlformats.org/officeDocument/2006/relationships" id="265" r:id="R3533834f43b14121"/>
    <p:sldId xmlns:r="http://schemas.openxmlformats.org/officeDocument/2006/relationships" id="266" r:id="R492efe5b7a2347a4"/>
    <p:sldId xmlns:r="http://schemas.openxmlformats.org/officeDocument/2006/relationships" id="267" r:id="Radf893daf81442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2d58c636e64d53" /><Relationship Type="http://schemas.openxmlformats.org/officeDocument/2006/relationships/slideMaster" Target="/ppt/slideMasters/slideMaster1.xml" Id="R584482229a2444b3" /><Relationship Type="http://schemas.openxmlformats.org/officeDocument/2006/relationships/notesMaster" Target="/ppt/notesMasters/notesMaster1.xml" Id="Rf298f1663fad46df" /><Relationship Type="http://schemas.openxmlformats.org/officeDocument/2006/relationships/presProps" Target="/ppt/presProps.xml" Id="R5dc1a4670b9d4fd2" /><Relationship Type="http://schemas.openxmlformats.org/officeDocument/2006/relationships/tableStyles" Target="/ppt/tableStyles.xml" Id="R3dae5be1261e424d" /><Relationship Type="http://schemas.openxmlformats.org/officeDocument/2006/relationships/slide" Target="/ppt/slides/slide1.xml" Id="R1b930595c5b4446d" /><Relationship Type="http://schemas.openxmlformats.org/officeDocument/2006/relationships/slide" Target="/ppt/slides/slide2.xml" Id="R2f7212f1ffb14242" /><Relationship Type="http://schemas.openxmlformats.org/officeDocument/2006/relationships/slide" Target="/ppt/slides/slide3.xml" Id="R7bff3951328c4c66" /><Relationship Type="http://schemas.openxmlformats.org/officeDocument/2006/relationships/slide" Target="/ppt/slides/slide4.xml" Id="Rb6673c0a0818470f" /><Relationship Type="http://schemas.openxmlformats.org/officeDocument/2006/relationships/slide" Target="/ppt/slides/slide5.xml" Id="R14f7690de6c34466" /><Relationship Type="http://schemas.openxmlformats.org/officeDocument/2006/relationships/slide" Target="/ppt/slides/slide6.xml" Id="Rb3216864873c4980" /><Relationship Type="http://schemas.openxmlformats.org/officeDocument/2006/relationships/slide" Target="/ppt/slides/slide7.xml" Id="Rb0ae5264fd5740c0" /><Relationship Type="http://schemas.openxmlformats.org/officeDocument/2006/relationships/slide" Target="/ppt/slides/slide8.xml" Id="R06d7125d0a534ca4" /><Relationship Type="http://schemas.openxmlformats.org/officeDocument/2006/relationships/slide" Target="/ppt/slides/slide9.xml" Id="R54e95d602aee4ad1" /><Relationship Type="http://schemas.openxmlformats.org/officeDocument/2006/relationships/slide" Target="/ppt/slides/slide10.xml" Id="R3533834f43b14121" /><Relationship Type="http://schemas.openxmlformats.org/officeDocument/2006/relationships/slide" Target="/ppt/slides/slide11.xml" Id="R492efe5b7a2347a4" /><Relationship Type="http://schemas.openxmlformats.org/officeDocument/2006/relationships/slide" Target="/ppt/slides/slide12.xml" Id="Radf893daf81442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a860a6027a42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10528e496241e3" /><Relationship Type="http://schemas.openxmlformats.org/officeDocument/2006/relationships/notesMaster" Target="/ppt/notesMasters/notesMaster1.xml" Id="R66ed8c4c7ccb44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aa9546541543a9" /><Relationship Type="http://schemas.openxmlformats.org/officeDocument/2006/relationships/notesMaster" Target="/ppt/notesMasters/notesMaster1.xml" Id="R1e4aa1c1c6f745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f6567ff1b345f8" /><Relationship Type="http://schemas.openxmlformats.org/officeDocument/2006/relationships/notesMaster" Target="/ppt/notesMasters/notesMaster1.xml" Id="R89c52e2d6b6741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9603c648b04ddf" /><Relationship Type="http://schemas.openxmlformats.org/officeDocument/2006/relationships/notesMaster" Target="/ppt/notesMasters/notesMaster1.xml" Id="Re5d9545f9b8c44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c7d4e560694736" /><Relationship Type="http://schemas.openxmlformats.org/officeDocument/2006/relationships/notesMaster" Target="/ppt/notesMasters/notesMaster1.xml" Id="R8d620372932a45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0b436dab1f4ef4" /><Relationship Type="http://schemas.openxmlformats.org/officeDocument/2006/relationships/notesMaster" Target="/ppt/notesMasters/notesMaster1.xml" Id="Re8e2dc0357d446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203769b5e64420" /><Relationship Type="http://schemas.openxmlformats.org/officeDocument/2006/relationships/notesMaster" Target="/ppt/notesMasters/notesMaster1.xml" Id="Rb5f32d7d602444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2748acc6c24c69" /><Relationship Type="http://schemas.openxmlformats.org/officeDocument/2006/relationships/notesMaster" Target="/ppt/notesMasters/notesMaster1.xml" Id="Redc65ae6317b4f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b504e8fbb84462" /><Relationship Type="http://schemas.openxmlformats.org/officeDocument/2006/relationships/notesMaster" Target="/ppt/notesMasters/notesMaster1.xml" Id="R7dbfb58e54b34c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a2fd2566624a3d" /><Relationship Type="http://schemas.openxmlformats.org/officeDocument/2006/relationships/notesMaster" Target="/ppt/notesMasters/notesMaster1.xml" Id="Rd89d581edb6d4e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be024911f64583" /><Relationship Type="http://schemas.openxmlformats.org/officeDocument/2006/relationships/notesMaster" Target="/ppt/notesMasters/notesMaster1.xml" Id="Rc04ef9aa6dea48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7d8857fc244c5f" /><Relationship Type="http://schemas.openxmlformats.org/officeDocument/2006/relationships/notesMaster" Target="/ppt/notesMasters/notesMaster1.xml" Id="R35599dc7318742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Открываем с обещания продукта: SaveFood координирует не каталог, а полный маршрут помощи.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/Users/2kx/savefood/README.md</a:t>
            </a:r>
          </a:p>
          <a:p xmlns:a="http://schemas.openxmlformats.org/drawingml/2006/main">
            <a:r>
              <a:t>/Users/2kx/savefood/savefood/src/Pages/HomePage.markup.html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операционная: ценность появляется, когда разрозненные действия становятся одним управляемым потоком.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/Users/2kx/savefood/README.md#как-это-работает</a:t>
            </a:r>
          </a:p>
          <a:p xmlns:a="http://schemas.openxmlformats.org/drawingml/2006/main">
            <a:r>
              <a:t>/Users/2kx/savefood/savefood/src/Pages/HomePage.markup.html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слайде — реальный локальный интерфейс, а не концептуальный мокап.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Screenshot: http://localhost/ captured read-only on 2026-08-13</a:t>
            </a:r>
          </a:p>
          <a:p xmlns:a="http://schemas.openxmlformats.org/drawingml/2006/main">
            <a:r>
              <a:t>/Users/2kx/savefood/savefood/src/Pages/HomePage.jsx</a:t>
            </a:r>
          </a:p>
          <a:p xmlns:a="http://schemas.openxmlformats.org/drawingml/2006/main">
            <a:r>
              <a:t>/Users/2kx/savefood/android-app/DESIGN.md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частного донора действует базовая модель и обязательное фото продуктов.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/Users/2kx/savefood/README.md#роли</a:t>
            </a:r>
          </a:p>
          <a:p xmlns:a="http://schemas.openxmlformats.org/drawingml/2006/main">
            <a:r>
              <a:t>/Users/2kx/savefood/savefood/src/Pages/HomePage.markup.html</a:t>
            </a:r>
          </a:p>
          <a:p xmlns:a="http://schemas.openxmlformats.org/drawingml/2006/main">
            <a:r>
              <a:t>/Users/2kx/savefood/backend-java/src/main/java/ru/savefood/shop/ShopController.java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Каждый шаг завершает проверяемое состояние, поэтому поток можно операционно контролировать.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/Users/2kx/savefood/README.md#как-это-работает</a:t>
            </a:r>
          </a:p>
          <a:p xmlns:a="http://schemas.openxmlformats.org/drawingml/2006/main">
            <a:r>
              <a:t>/Users/2kx/savefood/backend-java/src/main/java/ru/savefood/match</a:t>
            </a:r>
          </a:p>
          <a:p xmlns:a="http://schemas.openxmlformats.org/drawingml/2006/main">
            <a:r>
              <a:t>/Users/2kx/savefood/backend-java/src/main/java/ru/savefood/volunteer</a:t>
            </a:r>
          </a:p>
          <a:p xmlns:a="http://schemas.openxmlformats.org/drawingml/2006/main">
            <a:r>
              <a:t>/Users/2kx/savefood/backend-java/src/main/java/ru/savefood/esg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Маршрут строится как цепочка серверных гарантий, а не набор клиентских обещаний.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/Users/2kx/savefood/backend-java/src/main/java/ru/savefood/match</a:t>
            </a:r>
          </a:p>
          <a:p xmlns:a="http://schemas.openxmlformats.org/drawingml/2006/main">
            <a:r>
              <a:t>/Users/2kx/savefood/backend-java/src/main/java/ru/savefood/volunteer</a:t>
            </a:r>
          </a:p>
          <a:p xmlns:a="http://schemas.openxmlformats.org/drawingml/2006/main">
            <a:r>
              <a:t>/Users/2kx/savefood/go-services/geows/main.go</a:t>
            </a:r>
          </a:p>
          <a:p xmlns:a="http://schemas.openxmlformats.org/drawingml/2006/main">
            <a:r>
              <a:t>/Users/2kx/savefood/README.md#api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Критическая деталь: AI никогда не отклоняет уязвимого заявителя автоматически.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/Users/2kx/savefood/backend-java/src/main/java/ru/savefood/kyc/KycService.java</a:t>
            </a:r>
          </a:p>
          <a:p xmlns:a="http://schemas.openxmlformats.org/drawingml/2006/main">
            <a:r>
              <a:t>/Users/2kx/savefood/savefood/src/Pages/Auth/AuthPage.jsx</a:t>
            </a:r>
          </a:p>
          <a:p xmlns:a="http://schemas.openxmlformats.org/drawingml/2006/main">
            <a:r>
              <a:t>/Users/2kx/savefood/savefood/src/Pages/Admin/AdminPanel.jsx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делит ответственность по нагрузке и сценарию, но держит статусы в общей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/Users/2kx/savefood/README.md#стек</a:t>
            </a:r>
          </a:p>
          <a:p xmlns:a="http://schemas.openxmlformats.org/drawingml/2006/main">
            <a:r>
              <a:t>/Users/2kx/savefood/docker-compose.yml</a:t>
            </a:r>
          </a:p>
          <a:p xmlns:a="http://schemas.openxmlformats.org/drawingml/2006/main">
            <a:r>
              <a:t>/Users/2kx/savefood/backend-java/pom.xml</a:t>
            </a:r>
          </a:p>
          <a:p xmlns:a="http://schemas.openxmlformats.org/drawingml/2006/main">
            <a:r>
              <a:t>/Users/2kx/savefood/savefood/package.json</a:t>
            </a:r>
          </a:p>
          <a:p xmlns:a="http://schemas.openxmlformats.org/drawingml/2006/main">
            <a:r>
              <a:t>/Users/2kx/savefood/go-services/geows/go.mod</a:t>
            </a:r>
          </a:p>
          <a:p xmlns:a="http://schemas.openxmlformats.org/drawingml/2006/main">
            <a:r>
              <a:t>/Users/2kx/savefood/android-app/app/build.gradle.kts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Гейтинг тарифов выполняется на сервере; недоступная функция возвращает HTTP 402 с подсказкой апгрейда.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/Users/2kx/savefood/README.md#монетизация-b2b-saas</a:t>
            </a:r>
          </a:p>
          <a:p xmlns:a="http://schemas.openxmlformats.org/drawingml/2006/main">
            <a:r>
              <a:t>/Users/2kx/savefood/backend-java/src/main/java/ru/savefood/billing/Plans.java</a:t>
            </a:r>
          </a:p>
          <a:p xmlns:a="http://schemas.openxmlformats.org/drawingml/2006/main">
            <a:r>
              <a:t>/Users/2kx/savefood/backend-java/src/main/java/ru/savefood/billing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сознательно не показывает численные результаты: локальные данные являются демонстрационными и не должны выдаваться за достигнутый масштаб.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/Users/2kx/savefood/backend-java/src/main/java/ru/savefood/esg</a:t>
            </a:r>
          </a:p>
          <a:p xmlns:a="http://schemas.openxmlformats.org/drawingml/2006/main">
            <a:r>
              <a:t>/Users/2kx/savefood/backend-java/src/main/java/ru/savefood/impact</a:t>
            </a:r>
          </a:p>
          <a:p xmlns:a="http://schemas.openxmlformats.org/drawingml/2006/main">
            <a:r>
              <a:t>/Users/2kx/savefood/savefood/src/Pages/ImpactPage.jsx</a:t>
            </a:r>
          </a:p>
          <a:p xmlns:a="http://schemas.openxmlformats.org/drawingml/2006/main">
            <a:r>
              <a:t>/Users/2kx/savefood/savefood/src/Pages/HomePage.jsx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Подчёркиваем реальные операционные опоры и честно называем текущую границу deploy-процесса.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/Users/2kx/savefood/README.md#тестирование</a:t>
            </a:r>
          </a:p>
          <a:p xmlns:a="http://schemas.openxmlformats.org/drawingml/2006/main">
            <a:r>
              <a:t>/Users/2kx/savefood/.github/workflows/ci.yml</a:t>
            </a:r>
          </a:p>
          <a:p xmlns:a="http://schemas.openxmlformats.org/drawingml/2006/main">
            <a:r>
              <a:t>/Users/2kx/savefood/docker-compose.yml</a:t>
            </a:r>
          </a:p>
          <a:p xmlns:a="http://schemas.openxmlformats.org/drawingml/2006/main">
            <a:r>
              <a:t>/Users/2kx/savefood/scripts/db_backup.sh</a:t>
            </a:r>
          </a:p>
          <a:p xmlns:a="http://schemas.openxmlformats.org/drawingml/2006/main">
            <a:r>
              <a:t>/Users/2kx/savefood/scripts/db_restore.sh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Закрываем той же логикой, с которой начали: второй шанс появляется через проверяемый процесс.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https://github.com/z7gvt9mys9-dev/savefood</a:t>
            </a:r>
          </a:p>
          <a:p xmlns:a="http://schemas.openxmlformats.org/drawingml/2006/main">
            <a:r>
              <a:t>/Users/2kx/savefood/README.md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ccc6b157145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b9a5be97954f2c" /><Relationship Type="http://schemas.openxmlformats.org/officeDocument/2006/relationships/slideLayout" Target="/ppt/slideLayouts/slideLayout1.xml" Id="R9ebf52c47fb240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bf52c47fb240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4024e2f0f4b82" /><Relationship Type="http://schemas.openxmlformats.org/officeDocument/2006/relationships/notesSlide" Target="/ppt/notesSlides/notesSlide1.xml" Id="Ra275a5d6f73d4d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8e18522414c35" /><Relationship Type="http://schemas.openxmlformats.org/officeDocument/2006/relationships/notesSlide" Target="/ppt/notesSlides/notesSlide2.xml" Id="Rd2d8720a81114e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750916a7649d1" /><Relationship Type="http://schemas.openxmlformats.org/officeDocument/2006/relationships/image" Target="/ppt/media/image.png" Id="Rccb205dabfb34f76" /><Relationship Type="http://schemas.openxmlformats.org/officeDocument/2006/relationships/notesSlide" Target="/ppt/notesSlides/notesSlide3.xml" Id="R65bfe42a81f14b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54bea0c6a442c" /><Relationship Type="http://schemas.openxmlformats.org/officeDocument/2006/relationships/notesSlide" Target="/ppt/notesSlides/notesSlide4.xml" Id="Ree70606f086046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a7cfd2c1342a2" /><Relationship Type="http://schemas.openxmlformats.org/officeDocument/2006/relationships/notesSlide" Target="/ppt/notesSlides/notesSlide5.xml" Id="Rf252f7dcb21f4b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dba09abf141ee" /><Relationship Type="http://schemas.openxmlformats.org/officeDocument/2006/relationships/notesSlide" Target="/ppt/notesSlides/notesSlide6.xml" Id="R199f8f470a784c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389e27f0d4d72" /><Relationship Type="http://schemas.openxmlformats.org/officeDocument/2006/relationships/notesSlide" Target="/ppt/notesSlides/notesSlide7.xml" Id="Rfa2606bf7c344c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c8442a0be4298" /><Relationship Type="http://schemas.openxmlformats.org/officeDocument/2006/relationships/notesSlide" Target="/ppt/notesSlides/notesSlide8.xml" Id="Rcba99d9e63e649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6f34995f34e7b" /><Relationship Type="http://schemas.openxmlformats.org/officeDocument/2006/relationships/notesSlide" Target="/ppt/notesSlides/notesSlide9.xml" Id="Re063cd35428845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cd13d2ba04b4a" /><Relationship Type="http://schemas.openxmlformats.org/officeDocument/2006/relationships/notesSlide" Target="/ppt/notesSlides/notesSlide10.xml" Id="R3f4abc48a21246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b5c7d2e5d44a3" /><Relationship Type="http://schemas.openxmlformats.org/officeDocument/2006/relationships/notesSlide" Target="/ppt/notesSlides/notesSlide11.xml" Id="R2d6d21b201d64f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75edda1af47b3" /><Relationship Type="http://schemas.openxmlformats.org/officeDocument/2006/relationships/notesSlide" Target="/ppt/notesSlides/notesSlide12.xml" Id="R9b79ee0c34fb4a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47481-4A58-4840-8D21-33DC017E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7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6025D-8228-4282-B85C-553FDC3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52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EA580-BB39-4BDD-B564-52CB5A0F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4C66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C660"/>
                </a:solidFill>
                <a:latin typeface="Arial"/>
                <a:ea typeface="Arial"/>
                <a:cs typeface="Arial"/>
              </a:rPr>
              <a:t>SAVEFOOD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3DED9-854F-423C-8EF7-D195E699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02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502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Спасаем еду.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C1943-0E32-4139-A6C1-E5917A67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025" b="1" i="1">
                <a:solidFill>
                  <a:srgbClr val="FF8A4F"/>
                </a:solidFill>
                <a:latin typeface="Georgia"/>
                <a:ea typeface="Georgia"/>
                <a:cs typeface="Georgia"/>
              </a:defRPr>
            </a:pPr>
            <a:r>
              <a:rPr sz="5025" b="1" i="1">
                <a:solidFill>
                  <a:srgbClr val="FF8A4F"/>
                </a:solidFill>
                <a:latin typeface="Georgia"/>
                <a:ea typeface="Georgia"/>
                <a:cs typeface="Georgia"/>
              </a:rPr>
              <a:t>Доставляем заботу.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7BD5A-F4BF-4359-B4E0-45B4CB13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Единая платформа для магазинов, частных доноров, волонтёров и людей, которым нужна помощь.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79FAB-0C67-4BDF-80A7-A872C7E4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6F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942A7-D043-4DBC-B1A1-C8F9DAE3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rPr>
              <a:t>ОТ ИЗЛИШКА ДО ПОДТВЕРЖДЁННОЙ ПЕРЕДАЧИ</a:t>
            </a:r>
          </a:p>
        </p:txBody>
      </p:sp>
    </p:spTree>
    <p:extLst>
      <p:ext uri="{BB962C8B-B14F-4D97-AF65-F5344CB8AC3E}">
        <p14:creationId xmlns:p14="http://schemas.microsoft.com/office/powerpoint/2010/main" val="209112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5EE89-CCAC-4FA3-AC70-4D5075E1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C66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C660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DC4B7-1EFD-4A43-B355-2EE3468F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13EA4-F3E9-4153-A626-1AB69A83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9ECE2-482F-47F9-A594-BED7347E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Излишки и потребность существуют рядом — но не встречаются сами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3DCD9-5F9E-4532-BECE-D34CF3AE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Без координации каждый участник решает только свой фрагмент задачи.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4D565-BCFE-46C3-B034-2DDFE764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rPr>
              <a:t>ИЗЛИШЕК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4B3D8-17CC-4BE0-BFA6-3EE41369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Еда имеет короткое окно выдачи и требует понятной публикации.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58580-E71D-49C6-AE1A-1D8C56F8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6237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6F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C6124-8B29-4576-8D17-7DDDCBFD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43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210A7-A30B-4D78-960C-70EECC63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8A4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8A4F"/>
                </a:solidFill>
                <a:latin typeface="Courier New"/>
                <a:ea typeface="Courier New"/>
                <a:cs typeface="Courier New"/>
              </a:rPr>
              <a:t>КООРДИНАЦИЯ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81F50-6287-433B-A774-CCCBA43F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BBD89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9BBD89"/>
                </a:solidFill>
                <a:latin typeface="Courier New"/>
                <a:ea typeface="Courier New"/>
                <a:cs typeface="Courier New"/>
              </a:rPr>
              <a:t>ПОМОЩЬ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B95E3-018A-4B8F-AEE7-B816B21D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Получателю нужны доверие, доступность и подтверждённая передача.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3022C-CEC1-40A1-84F4-088EAE3F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102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Между ними — модерация, приоритет, маршрут, статусы и измерение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1636216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83A00-3039-43EC-B8DD-42FBDAEE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C66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C660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F97CE-60F3-4797-8E12-8C1C6838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E47B3-D9C6-4F16-87B5-8B9D449E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59F4E-9B0D-46C8-9B5E-CCCA6D19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4333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SaveFood соединяет действия в один маршрут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23D1D-5B10-4B61-A024-FE670E28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Лоты, карта, роли, статусы и подтверждение работают в одном продукте — web и Android.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AFFAD-44E5-42DE-9A25-1B587A7A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8A4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F8A4F"/>
                </a:solidFill>
                <a:latin typeface="Courier New"/>
                <a:ea typeface="Courier New"/>
                <a:cs typeface="Courier New"/>
              </a:rPr>
              <a:t>LIVE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924D6-2E91-49CE-9617-4553E933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BCB1A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CB1A4"/>
                </a:solidFill>
                <a:latin typeface="Arial"/>
                <a:ea typeface="Arial"/>
                <a:cs typeface="Arial"/>
              </a:rPr>
              <a:t>Интерфейс получателя показывает лоты рядом, окно выдачи и статус доставки.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AFD80-1E70-4827-8AAC-02073D44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000125"/>
            <a:ext cx="6381750" cy="5048250"/>
          </a:xfrm>
          <a:prstGeom xmlns:a="http://schemas.openxmlformats.org/drawingml/2006/main" prst="roundRect">
            <a:avLst>
              <a:gd name="adj" fmla="val 4151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205dabfb34f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91150" y="1152525"/>
            <a:ext cx="6076950" cy="47434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5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970C0-20EE-424A-8A4D-9F2F76F5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C66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C660"/>
                </a:solidFill>
                <a:latin typeface="Arial"/>
                <a:ea typeface="Arial"/>
                <a:cs typeface="Arial"/>
              </a:rPr>
              <a:t>ЭКОСИСТЕМА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06B59-74DA-4A2F-90D4-663B0B24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8F594-7B85-46BE-862B-3CFE666F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3DCF3-E15C-4725-942C-D0106D77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Четыре роли видят только тот интерфейс, который нужен сейчас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67AD0-89AC-42B7-B1BB-2AE45CB7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862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40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04353-68BE-40C1-9310-A89C72CC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CFE8D-E18A-4C76-9365-284C217F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6E9"/>
                </a:solidFill>
                <a:latin typeface="Arial"/>
                <a:ea typeface="Arial"/>
                <a:cs typeface="Arial"/>
              </a:rPr>
              <a:t>Донор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68E3C-8E57-4D93-A022-F82E362C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BCB1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CB1A4"/>
                </a:solidFill>
                <a:latin typeface="Arial"/>
                <a:ea typeface="Arial"/>
                <a:cs typeface="Arial"/>
              </a:rPr>
              <a:t>Публикует лот вручную или через OCR чека.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B5AE3-D3B4-4216-9E61-89B3CD0F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6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9A7AB-4700-49C7-AA77-430F38F9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004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6E9"/>
                </a:solidFill>
                <a:latin typeface="Arial"/>
                <a:ea typeface="Arial"/>
                <a:cs typeface="Arial"/>
              </a:rPr>
              <a:t>Волонтёр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F0C5A-D512-4ADF-A50E-6D576C80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65760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BCB1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CB1A4"/>
                </a:solidFill>
                <a:latin typeface="Arial"/>
                <a:ea typeface="Arial"/>
                <a:cs typeface="Arial"/>
              </a:rPr>
              <a:t>Берёт маршрут, навигирует и подтверждает передачу.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FD02A-9179-444C-8EC4-9315EB66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BD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C22FC-34CD-4D3B-841D-A411B59A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6E9"/>
                </a:solidFill>
                <a:latin typeface="Arial"/>
                <a:ea typeface="Arial"/>
                <a:cs typeface="Arial"/>
              </a:rPr>
              <a:t>Получатель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0140F-3022-4F7C-88C4-BECC9B13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5760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BCB1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CB1A4"/>
                </a:solidFill>
                <a:latin typeface="Arial"/>
                <a:ea typeface="Arial"/>
                <a:cs typeface="Arial"/>
              </a:rPr>
              <a:t>Выбирает помощь, доставку или самовывоз.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77360-4347-4EE6-84E9-FF9EB50F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7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460A6-4E10-4B43-9664-A43401DD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004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6E9"/>
                </a:solidFill>
                <a:latin typeface="Arial"/>
                <a:ea typeface="Arial"/>
                <a:cs typeface="Arial"/>
              </a:rPr>
              <a:t>Администратор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EF8A5-67C3-4932-B053-E234959C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5760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BCB1A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CB1A4"/>
                </a:solidFill>
                <a:latin typeface="Arial"/>
                <a:ea typeface="Arial"/>
                <a:cs typeface="Arial"/>
              </a:rPr>
              <a:t>Модерирует, диспетчеризирует и видит аналитику.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93B4A-4C2F-454C-BC2B-BF46A53C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197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Одна общая модель данных · разные кабинеты · единые статусы</a:t>
            </a:r>
          </a:p>
        </p:txBody>
      </p:sp>
    </p:spTree>
    <p:extLst>
      <p:ext uri="{BB962C8B-B14F-4D97-AF65-F5344CB8AC3E}">
        <p14:creationId xmlns:p14="http://schemas.microsoft.com/office/powerpoint/2010/main" val="1821929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10242-22E4-4F05-A195-27180D8A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C66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C660"/>
                </a:solidFill>
                <a:latin typeface="Arial"/>
                <a:ea typeface="Arial"/>
                <a:cs typeface="Arial"/>
              </a:rPr>
              <a:t>СКВОЗНОЙ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58FAF-7A06-47DB-8F1E-93C1F24B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48AA2-EDEF-4361-B655-ABA2B0F3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7E0A1-38BE-4506-9DDA-08CF5FF7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Три шага закрывают путь от публикации до измеримого результата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E4920-36C5-4A25-94D8-AC20D6C8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40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2A24B-24B5-4FF1-8123-14231684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28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F35"/>
          </a:solidFill>
          <a:ln xmlns:a="http://schemas.openxmlformats.org/drawingml/2006/main" w="38100">
            <a:solidFill>
              <a:srgbClr val="100E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51AE8-00F3-4D14-B516-64912638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28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F35"/>
          </a:solidFill>
          <a:ln xmlns:a="http://schemas.openxmlformats.org/drawingml/2006/main" w="38100">
            <a:solidFill>
              <a:srgbClr val="100E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CEE07-ED9B-4F1D-B479-F9F9740E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F35"/>
          </a:solidFill>
          <a:ln xmlns:a="http://schemas.openxmlformats.org/drawingml/2006/main" w="38100">
            <a:solidFill>
              <a:srgbClr val="100E0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89C87-88D2-4413-A648-8D2EBB72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8BEEA-1894-4CD6-82FB-96F73D47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Опубликовать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67F40-4F05-4654-A134-EE473FBA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Лот, категория, вес, фото и окно выдачи.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3B859-E857-4792-A22C-DCE0D963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76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5B119-1DF9-4569-B9E0-A76EA672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7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Сопоставить и доставить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B85C9-C8BE-45E0-8130-73EA30FC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243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Приоритет заявок, 2-opt маршрут и live-координаты.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D6572-5146-4D74-8249-081EF765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A5358-B3DD-49D6-B22B-B5029965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Подтвердить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BC130-8A4C-4D49-8E3A-C8D09A54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QR + GPS на сервере, затем impact и ESG.</a:t>
            </a:r>
          </a:p>
        </p:txBody>
      </p:sp>
    </p:spTree>
    <p:extLst>
      <p:ext uri="{BB962C8B-B14F-4D97-AF65-F5344CB8AC3E}">
        <p14:creationId xmlns:p14="http://schemas.microsoft.com/office/powerpoint/2010/main" val="324187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D9E350-7C0F-4DB3-B529-A44A033D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C66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C660"/>
                </a:solidFill>
                <a:latin typeface="Arial"/>
                <a:ea typeface="Arial"/>
                <a:cs typeface="Arial"/>
              </a:rPr>
              <a:t>ЛОГИСТИКА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A8925-DEB8-4B13-BE2A-51A1D89F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F3884-ECAA-49BC-8C27-4CE81E88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3617D-514E-4BAF-8925-3A702A18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Умная логистика экономит время и защищает передачу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32AA3-62DB-4D49-9848-F119CB79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76600"/>
            <a:ext cx="83629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C40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3CCCC-298A-4203-8225-E43FE154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247900" cy="2266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0E124-42BB-4B36-B4CC-ABB864B4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6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40F6F-EF16-4B96-8212-79A03344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9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100E0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0E0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8AF91-EC06-402B-93C2-4737D382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Приоритет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F0972-8F15-41A6-8823-07A03CE3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Заявки ранжируются по серверному score.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217D0-5700-493F-9930-CEAE274A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2247900" cy="2266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D71C6-BCDE-4E29-BBAD-E4F907C1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E749F-306D-4259-BCAE-BD8375EA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86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100E0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0E0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907E5-5FA6-4558-9817-22D743C5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2-opt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B25D9-5A57-416E-99D5-47A8EEFC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433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Точки собираются в практичный маршрут.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9853D-FF14-4E34-ABE8-5794FB4E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47900" cy="2266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AE6F4-92AF-4C7C-ACB2-862EE73F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BD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BA182-0158-4515-AF5D-440936A9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19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100E0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0E0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DB059-EC00-487E-8494-C125781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623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Realtime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0B32B-BA49-4EEB-8BDF-73C6DD72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767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Go-сервис пишет и читает координаты в PostgreSQL.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04350-6940-48B2-8FB4-C0B0EBDB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247900" cy="2266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8491A-48DE-4EE0-BC1B-D7E9DFB6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9CA18E-54DB-4144-BA2F-4F97A0BB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86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100E0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0E0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D3875-6CB2-440E-9777-59E9E188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289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QR + GPS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1FE65-A05E-4935-BC74-89E582B0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433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Передача подтверждается на сервере в радиусе 100 м.</a:t>
            </a:r>
          </a:p>
        </p:txBody>
      </p:sp>
    </p:spTree>
    <p:extLst>
      <p:ext uri="{BB962C8B-B14F-4D97-AF65-F5344CB8AC3E}">
        <p14:creationId xmlns:p14="http://schemas.microsoft.com/office/powerpoint/2010/main" val="4222770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B861F-2976-4A67-8FC1-BAC36328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C66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C660"/>
                </a:solidFill>
                <a:latin typeface="Arial"/>
                <a:ea typeface="Arial"/>
                <a:cs typeface="Arial"/>
              </a:rPr>
              <a:t>ДОВЕРИЕ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820D9-DCA9-49A5-8C98-541F5CEF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8F546-B4F9-4E66-B7DD-FA419BDE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8F0B5-F7B4-4060-9E25-F8C1F983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Auto-KYC ускоряет уверенные случаи, но не отказывает человеку сам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D70F6-8932-4279-8A29-A4AAC39B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09950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40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C3768-356D-40E4-9C83-C5A7A659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F35"/>
          </a:solidFill>
          <a:ln xmlns:a="http://schemas.openxmlformats.org/drawingml/2006/main" w="57150">
            <a:solidFill>
              <a:srgbClr val="100E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DA16C-3B2F-4B90-93EA-EFD1118F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2897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00E0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0E0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3D795-D4B3-4841-92AF-35EBD3C2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Документ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A54FB-959C-4A74-A9D8-2F6AECE2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Загрузка с JWT, приватное хранение, шифрование at-rest.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817CE-65ED-44B9-837A-81D6002F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48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660"/>
          </a:solidFill>
          <a:ln xmlns:a="http://schemas.openxmlformats.org/drawingml/2006/main" w="57150">
            <a:solidFill>
              <a:srgbClr val="100E0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8B612-6550-4524-959C-8CC504E5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2897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00E0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0E0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7977C-4B96-4FB2-AED9-792E01C9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576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AI pre-check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7BC59-1D87-4AC8-899B-9B9B3177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10100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Тип, ФИО, читаемость, следы редактирования и score.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317E8-87DE-4EF0-A27D-43E3B354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BD89"/>
          </a:solidFill>
          <a:ln xmlns:a="http://schemas.openxmlformats.org/drawingml/2006/main" w="57150">
            <a:solidFill>
              <a:srgbClr val="100E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DF79A-F63E-4A78-98A3-450C5D1F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28975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00E0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0E0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91D38-7542-41A2-9F39-8012A7D5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576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6D32B-438D-48B4-87D4-E20EAA8E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0100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likely_ok может пройти автоматически; остальное остаётся pending человеку.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8ED74-7131-4FC6-AD9B-3D0E7816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rPr>
              <a:t>ЭТИЧЕСКИЙ ИНВАРИАНТ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FA203-2724-4A63-ACD0-5E512A3D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962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FF8A4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8A4F"/>
                </a:solidFill>
                <a:latin typeface="Courier New"/>
                <a:ea typeface="Courier New"/>
                <a:cs typeface="Courier New"/>
              </a:rPr>
              <a:t>fraud · review · unchecked → pending</a:t>
            </a:r>
          </a:p>
        </p:txBody>
      </p:sp>
    </p:spTree>
    <p:extLst>
      <p:ext uri="{BB962C8B-B14F-4D97-AF65-F5344CB8AC3E}">
        <p14:creationId xmlns:p14="http://schemas.microsoft.com/office/powerpoint/2010/main" val="1021882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4523D9-0166-481C-B748-741885C5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C66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C660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30DFA-5041-4B77-854E-FF867F75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FDB26-7439-4F35-9035-5C306312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199BD-D95A-4F37-B09F-19A185FA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Одна платформа, пять исполняемых слоёв и общая модель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0C01A-DD07-4F05-9380-A3AF532F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290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40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CB029-9AE6-4601-82F5-513DF1C5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714500" cy="1952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C60DB-75FA-4BDC-8D33-6FCEFCBE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6F35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46F35"/>
                </a:solidFill>
                <a:latin typeface="Courier New"/>
                <a:ea typeface="Courier New"/>
                <a:cs typeface="Courier New"/>
              </a:rPr>
              <a:t>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DA89F-A569-43F2-90CC-3CE051D4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React 18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Vite · PWA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5AC82-EF2C-4FCB-9DFB-98BDFA36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33600"/>
            <a:ext cx="1714500" cy="1952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DF6D2-7BE3-4390-AC9F-AF5C70A0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43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rPr>
              <a:t>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12A7A-65BD-40F5-8D37-AE615728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5750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Java 21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Spring 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0BFAA-A600-474C-BCAB-0E0E5329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714500" cy="1952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D7123-6243-4A30-93BC-08A42438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19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9BBD89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9BBD89"/>
                </a:solidFill>
                <a:latin typeface="Courier New"/>
                <a:ea typeface="Courier New"/>
                <a:cs typeface="Courier New"/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91178-37E6-4DBC-B08E-F09168B1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Postgres 15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Flyway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079C5-9F29-4C4C-9CAE-EFA53664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33600"/>
            <a:ext cx="1714500" cy="1952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63E4A-D70D-4BDF-B529-D56781D3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43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8A4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F8A4F"/>
                </a:solidFill>
                <a:latin typeface="Courier New"/>
                <a:ea typeface="Courier New"/>
                <a:cs typeface="Courier New"/>
              </a:rPr>
              <a:t>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C7C55-F1D3-4B1F-BB57-5ACCE209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Go geows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WS · 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A274B-8459-4004-9549-1C0C2B3E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09850"/>
            <a:ext cx="1714500" cy="1952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47131-35EC-49BE-B5B3-2A81E2E0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19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F7E55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5F7E55"/>
                </a:solidFill>
                <a:latin typeface="Courier New"/>
                <a:ea typeface="Courier New"/>
                <a:cs typeface="Courier New"/>
              </a:rPr>
              <a:t>FIELD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60064-DB82-43EC-BFB8-E667235B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Android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Compose · Hilt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DFE0D9-3B6F-43DF-9677-947762B8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Nginx · Cloudflare Tunnel · Telegram · Web Push · FCM · Gemini · Yandex Maps</a:t>
            </a:r>
          </a:p>
        </p:txBody>
      </p:sp>
    </p:spTree>
    <p:extLst>
      <p:ext uri="{BB962C8B-B14F-4D97-AF65-F5344CB8AC3E}">
        <p14:creationId xmlns:p14="http://schemas.microsoft.com/office/powerpoint/2010/main" val="5118477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742C5-3A27-48D7-9647-CA419A3F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C66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C660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A01D7-A198-4621-97D8-803E5986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72AE8-85FA-48F8-895E-F59F25B4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049A0-1BB7-478D-B5BE-BEA61374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Для получателя и волонтёра — бесплатно. Для ритейла — SaaS по зрелости процесса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D41E0-E1AD-4A5B-9887-A588119C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1432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E3448-BDEB-4BDE-8C20-439CFEF5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9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416DD-E1A8-4F9B-80C5-2AA0F8D3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Базовый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B7E50-68DF-45DC-87CC-29FC6095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до 20 лотов / мес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46994-259D-4D33-AC66-469C6D0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✓  Ручные лоты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✓  Базовая модель донора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4E486-CEB8-4E35-9F3F-36347B4C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57450"/>
            <a:ext cx="31432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DF1C1-23B7-4530-A442-1493FD8E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574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1BE3F-3F97-49FF-BCEE-B9488679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24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Профи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07CCD-F7A3-4746-B482-27DCACFF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46F3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6F35"/>
                </a:solidFill>
                <a:latin typeface="Arial"/>
                <a:ea typeface="Arial"/>
                <a:cs typeface="Arial"/>
              </a:rPr>
              <a:t>без лимита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ED453-763D-484A-88CD-6FB33AD7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✓  OCR чеков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✓  ESG-отчёт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✓  Антифрод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7ADBB-3089-4DB9-865A-74E386F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1432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B4436-2BEF-4C7C-9426-03213D05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6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BA160-BEDC-42A5-AD8A-665C6CAE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Enterprise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978A1-BE90-42C7-B543-3571326A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4C66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C660"/>
                </a:solidFill>
                <a:latin typeface="Arial"/>
                <a:ea typeface="Arial"/>
                <a:cs typeface="Arial"/>
              </a:rPr>
              <a:t>без лимита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2C1FD-1753-4FC4-8DF7-139F0E33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✓  Всё из Профи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✓  Партнёрский API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✓  Исходящие вебхуки</a:t>
            </a:r>
          </a:p>
        </p:txBody>
      </p:sp>
    </p:spTree>
    <p:extLst>
      <p:ext uri="{BB962C8B-B14F-4D97-AF65-F5344CB8AC3E}">
        <p14:creationId xmlns:p14="http://schemas.microsoft.com/office/powerpoint/2010/main" val="18254347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01192-FE45-4033-BE12-98089F97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C66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C660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4A40D-D623-428D-923E-546F106F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FEB97-70E9-470C-AAE2-1DCEAC55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E0E72-4CC5-49FC-9655-9C33BC23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Каждая подтверждённая передача превращается в измеримый 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D649E-63C5-470E-961C-BBB91DD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Публичный дашборд и ESG показывают результат без выдуманных прогнозов.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50267-AE81-454C-A7CB-6DA3A773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143250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12A30-9CCD-4E96-9FB9-CA2ED226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F4C660"/>
                </a:solidFill>
                <a:latin typeface="Georgia"/>
                <a:ea typeface="Georgia"/>
                <a:cs typeface="Georgia"/>
              </a:defRPr>
            </a:pPr>
            <a:r>
              <a:rPr sz="4800" b="1" i="0">
                <a:solidFill>
                  <a:srgbClr val="F4C660"/>
                </a:solidFill>
                <a:latin typeface="Georgia"/>
                <a:ea typeface="Georgia"/>
                <a:cs typeface="Georgia"/>
              </a:rPr>
              <a:t>кг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18325-4F8E-4608-9F06-4E8C64C0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спасённой еды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F6783-8882-4CDB-A84E-218EDEFC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67050"/>
            <a:ext cx="3143250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96622-232D-43EB-85C3-AF9F4C56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FF8A4F"/>
                </a:solidFill>
                <a:latin typeface="Georgia"/>
                <a:ea typeface="Georgia"/>
                <a:cs typeface="Georgia"/>
              </a:defRPr>
            </a:pPr>
            <a:r>
              <a:rPr sz="4800" b="1" i="0">
                <a:solidFill>
                  <a:srgbClr val="FF8A4F"/>
                </a:solidFill>
                <a:latin typeface="Georgia"/>
                <a:ea typeface="Georgia"/>
                <a:cs typeface="Georgia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1199D-B346-4BE5-B163-95F24C84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958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приёмов пищи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8D79F-46E7-4EBD-9DC8-F101D839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67050"/>
            <a:ext cx="3143250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2404A-DC93-4059-B621-90414765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9BBD89"/>
                </a:solidFill>
                <a:latin typeface="Georgia"/>
                <a:ea typeface="Georgia"/>
                <a:cs typeface="Georgia"/>
              </a:defRPr>
            </a:pPr>
            <a:r>
              <a:rPr sz="4800" b="1" i="0">
                <a:solidFill>
                  <a:srgbClr val="9BBD89"/>
                </a:solidFill>
                <a:latin typeface="Georgia"/>
                <a:ea typeface="Georgia"/>
                <a:cs typeface="Georgia"/>
              </a:rPr>
              <a:t>CO₂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46252-29DD-40FC-9EEF-CFF08A2F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958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предотвращённых выбросов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F465D-61CC-4CA4-A9D6-8DBC0103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483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FFF0D9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0D9"/>
                </a:solidFill>
                <a:latin typeface="Courier New"/>
                <a:ea typeface="Courier New"/>
                <a:cs typeface="Courier New"/>
              </a:rPr>
              <a:t>Подтверждение → агрегация → публичный impact → ESG магазина и платформы</a:t>
            </a:r>
          </a:p>
        </p:txBody>
      </p:sp>
    </p:spTree>
    <p:extLst>
      <p:ext uri="{BB962C8B-B14F-4D97-AF65-F5344CB8AC3E}">
        <p14:creationId xmlns:p14="http://schemas.microsoft.com/office/powerpoint/2010/main" val="1979961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F3EB8-EFF3-4919-888B-FE927BD7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4C66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C660"/>
                </a:solidFill>
                <a:latin typeface="Arial"/>
                <a:ea typeface="Arial"/>
                <a:cs typeface="Arial"/>
              </a:rPr>
              <a:t>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BF1E5-C34E-4781-802B-88665C0E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BCB1A4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1CDED-2039-4CFA-A074-C4EED8BF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534A5-AAF6-44E1-9A0C-E348B5B8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Продукт можно собрать, проверить, наблюдать и восстановить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4D393-1FD1-4E43-92A5-9F21723C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40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C2FDE-C84B-44FE-B424-4548BF9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857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CA57C-4DF7-4082-9967-68723B7E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46F35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46F35"/>
                </a:solidFill>
                <a:latin typeface="Courier New"/>
                <a:ea typeface="Courier New"/>
                <a:cs typeface="Courier New"/>
              </a:rPr>
              <a:t>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3BCB2-4072-45C7-8C77-ED54AFBA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JUnit · Vitest · Go tests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Testcontainers для интеграции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4E8F1-D047-4DF2-BDCC-4387E497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2857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46C66-D450-491A-9BF7-7D538165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rPr>
              <a:t>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655F6-8A7B-49BF-A77B-A01F2DFD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386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Docker Compose · Nginx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CI для backend, web, Android, 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3B9BE-E7FF-4914-A3BF-A94152DF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2857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01A15"/>
          </a:solidFill>
          <a:ln xmlns:a="http://schemas.openxmlformats.org/drawingml/2006/main" w="9525">
            <a:solidFill>
              <a:srgbClr val="4C40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FD2D7-0575-49D3-96CC-8D8802AB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24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9BBD89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9BBD89"/>
                </a:solidFill>
                <a:latin typeface="Courier New"/>
                <a:ea typeface="Courier New"/>
                <a:cs typeface="Courier New"/>
              </a:rPr>
              <a:t>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D9A39-A586-40F2-AE7E-493A254B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766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healthz · readyz · metrics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Sentry · audit 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5398B-281A-4247-91EE-863FFEC5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19750"/>
            <a:ext cx="918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D5C9B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C9BB"/>
                </a:solidFill>
                <a:latin typeface="Arial"/>
                <a:ea typeface="Arial"/>
                <a:cs typeface="Arial"/>
              </a:rPr>
              <a:t>Резервное копирование БД есть; deploy остаётся ручным и не заявляет zero-downtime.</a:t>
            </a:r>
          </a:p>
        </p:txBody>
      </p:sp>
    </p:spTree>
    <p:extLst>
      <p:ext uri="{BB962C8B-B14F-4D97-AF65-F5344CB8AC3E}">
        <p14:creationId xmlns:p14="http://schemas.microsoft.com/office/powerpoint/2010/main" val="8385393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E48E2-C023-41A9-AD9D-038602C6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4C660"/>
                </a:solidFill>
                <a:latin typeface="Courier New"/>
                <a:ea typeface="Courier New"/>
                <a:cs typeface="Courier New"/>
              </a:rPr>
              <a:t>SAVEFOOD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F516E-ED32-4481-BA4B-E87153F0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971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FFF6E9"/>
                </a:solidFill>
                <a:latin typeface="Georgia"/>
                <a:ea typeface="Georgia"/>
                <a:cs typeface="Georgia"/>
              </a:defRPr>
            </a:pPr>
            <a:r>
              <a:rPr sz="4800" b="1" i="0">
                <a:solidFill>
                  <a:srgbClr val="FFF6E9"/>
                </a:solidFill>
                <a:latin typeface="Georgia"/>
                <a:ea typeface="Georgia"/>
                <a:cs typeface="Georgia"/>
              </a:rPr>
              <a:t>У еды есть второй шанс.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1D585-ADE6-435F-A295-33B4D018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75" b="1" i="1">
                <a:solidFill>
                  <a:srgbClr val="FF8A4F"/>
                </a:solidFill>
                <a:latin typeface="Georgia"/>
                <a:ea typeface="Georgia"/>
                <a:cs typeface="Georgia"/>
              </a:defRPr>
            </a:pPr>
            <a:r>
              <a:rPr sz="3975" b="1" i="1">
                <a:solidFill>
                  <a:srgbClr val="FF8A4F"/>
                </a:solidFill>
                <a:latin typeface="Georgia"/>
                <a:ea typeface="Georgia"/>
                <a:cs typeface="Georgia"/>
              </a:rPr>
              <a:t>И он начинается с одного подтверждённого маршрута.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9ED95-F479-414A-9ECF-39E644B3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40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EF8EC-1CFA-47A1-A915-D14BC1EF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5C9BB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D5C9BB"/>
                </a:solidFill>
                <a:latin typeface="Courier New"/>
                <a:ea typeface="Courier New"/>
                <a:cs typeface="Courier New"/>
              </a:rPr>
              <a:t>github.com/z7gvt9mys9-dev/savefood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48271-BC3F-4BB9-8DFF-113C5405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00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9BBD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BBD89"/>
                </a:solidFill>
                <a:latin typeface="Arial"/>
                <a:ea typeface="Arial"/>
                <a:cs typeface="Arial"/>
              </a:rPr>
              <a:t>Партнёрство · пилот · вклад в разработку</a:t>
            </a:r>
          </a:p>
        </p:txBody>
      </p:sp>
    </p:spTree>
    <p:extLst>
      <p:ext uri="{BB962C8B-B14F-4D97-AF65-F5344CB8AC3E}">
        <p14:creationId xmlns:p14="http://schemas.microsoft.com/office/powerpoint/2010/main" val="2040521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2026-08-13T16:43:56.9480000Z</dcterms:created>
  <dcterms:modified xsi:type="dcterms:W3CDTF">2026-08-13T16:43:56.9480000Z</dcterms:modified>
</coreProperties>
</file>